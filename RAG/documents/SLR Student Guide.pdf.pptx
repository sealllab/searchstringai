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208000" cy="7429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24" autoAdjust="0"/>
  </p:normalViewPr>
  <p:slideViewPr>
    <p:cSldViewPr>
      <p:cViewPr varScale="1">
        <p:scale>
          <a:sx n="83" d="100"/>
          <a:sy n="83" d="100"/>
        </p:scale>
        <p:origin x="232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E8933-3BF3-0E4F-858E-32979ADAF8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9391D-E1CB-A649-BB6B-9FBE10C4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8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9391D-E1CB-A649-BB6B-9FBE10C4CE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7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11200" y="2209800"/>
            <a:ext cx="59055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000" b="1" dirty="0">
                <a:solidFill>
                  <a:srgbClr val="000000"/>
                </a:solidFill>
                <a:latin typeface="Knewave"/>
              </a:rPr>
              <a:t>Evidence-Based Software Engineering</a:t>
            </a:r>
            <a:endParaRPr lang="en-US" sz="1100" dirty="0"/>
          </a:p>
        </p:txBody>
      </p:sp>
      <p:sp>
        <p:nvSpPr>
          <p:cNvPr id="6" name="TextBox 6"/>
          <p:cNvSpPr txBox="1"/>
          <p:nvPr/>
        </p:nvSpPr>
        <p:spPr>
          <a:xfrm>
            <a:off x="711200" y="3670300"/>
            <a:ext cx="59055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A comprehensive training module on systematic reviews and evidence-based practices for software engineering research and practice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11200" y="4826000"/>
            <a:ext cx="59055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Agbalumo"/>
              </a:rPr>
              <a:t>SE-ALL LAB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715000" y="1358900"/>
            <a:ext cx="6591300" cy="468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715000" y="1358900"/>
            <a:ext cx="65913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5715000" y="2857500"/>
            <a:ext cx="65913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15000" y="4051300"/>
            <a:ext cx="65913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715000" y="5232400"/>
            <a:ext cx="65913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65200" y="3340100"/>
            <a:ext cx="42291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4800" b="1">
                <a:solidFill>
                  <a:srgbClr val="000000"/>
                </a:solidFill>
                <a:latin typeface="Knewave"/>
              </a:rPr>
              <a:t>Contents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715000" y="1358900"/>
            <a:ext cx="659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01. Introduction to EBSE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715000" y="2857500"/>
            <a:ext cx="659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02. Purpose &amp; Benefits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715000" y="4051300"/>
            <a:ext cx="659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03. Secondary Study Types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715000" y="5232400"/>
            <a:ext cx="659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04. Review Process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715000" y="1879600"/>
            <a:ext cx="6591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Agbalumo"/>
              </a:rPr>
              <a:t>Understanding evidence-based software engineering principles and applications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5715000" y="3365500"/>
            <a:ext cx="6591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Exploring why EBSE matters for research and practice decisions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715000" y="4559300"/>
            <a:ext cx="6591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Systematic reviews, mapping studies, and rapid reviews explained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715000" y="5740400"/>
            <a:ext cx="6591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From protocol development to execution and reporting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965200" y="1397000"/>
            <a:ext cx="6591300" cy="215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65200" y="1397000"/>
            <a:ext cx="6591300" cy="2159000"/>
          </a:xfrm>
          <a:prstGeom prst="roundRect">
            <a:avLst>
              <a:gd name="adj" fmla="val 2941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965200" y="3721100"/>
            <a:ext cx="6591300" cy="292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65200" y="3721100"/>
            <a:ext cx="3187700" cy="2921000"/>
          </a:xfrm>
          <a:prstGeom prst="roundRect">
            <a:avLst>
              <a:gd name="adj" fmla="val 2173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193800" y="3937000"/>
            <a:ext cx="609600" cy="596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368800" y="3721100"/>
            <a:ext cx="3187700" cy="2921000"/>
          </a:xfrm>
          <a:prstGeom prst="roundRect">
            <a:avLst>
              <a:gd name="adj" fmla="val 2173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597400" y="3937000"/>
            <a:ext cx="609600" cy="596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11200" y="546100"/>
            <a:ext cx="1182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>
                <a:solidFill>
                  <a:srgbClr val="000000"/>
                </a:solidFill>
                <a:latin typeface="Knewave"/>
              </a:rPr>
              <a:t>What is Evidence-Based Software Engineering?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93800" y="1612900"/>
            <a:ext cx="61341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Knewave"/>
              </a:rPr>
              <a:t>Core Definition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93800" y="4749800"/>
            <a:ext cx="2730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Knewave"/>
              </a:rPr>
              <a:t>Evidence-Driven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597400" y="4749800"/>
            <a:ext cx="2730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Knewave"/>
              </a:rPr>
              <a:t>Systematic Approach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93800" y="2120900"/>
            <a:ext cx="61341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EBSE applies evidence-based principles from medicine to software engineering, using systematically collected empirical evidence to support decisions about methods, tools, and practices rather than relying on intuition alone.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93800" y="5207000"/>
            <a:ext cx="27305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Integrates best available research with professional judgment for informed decision-making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597400" y="5207000"/>
            <a:ext cx="27305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Emphasizes rigor, replicability, and transparency in evidence collection and analysis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97000" y="4140200"/>
            <a:ext cx="203200" cy="203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00600" y="4140200"/>
            <a:ext cx="203200" cy="20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52ABF1-A3F9-235D-9EEA-EE887AEA2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219" y="1771650"/>
            <a:ext cx="436880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2501900"/>
            <a:ext cx="11823700" cy="326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499100" y="3009900"/>
            <a:ext cx="1016000" cy="101600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731000" y="3009900"/>
            <a:ext cx="1016000" cy="101600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731000" y="4241800"/>
            <a:ext cx="1016000" cy="101600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499100" y="4241800"/>
            <a:ext cx="1016000" cy="101600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11200" y="1638300"/>
            <a:ext cx="1182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Knewave"/>
              </a:rPr>
              <a:t>Purpose of Evidence-Based SE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11200" y="2501900"/>
            <a:ext cx="4572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Summarizing Knowledge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7962900" y="2501900"/>
            <a:ext cx="4572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Supporting Decisions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962900" y="4343400"/>
            <a:ext cx="4572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Identifying Gaps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11200" y="4343400"/>
            <a:ext cx="4572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000000"/>
                </a:solidFill>
                <a:latin typeface="Knewave"/>
              </a:rPr>
              <a:t>Reducing Risks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711200" y="3009900"/>
            <a:ext cx="4572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Provides structured overviews of existing studies on software engineering topics and methods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7962900" y="3009900"/>
            <a:ext cx="4572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Helps practitioners choose appropriate technologies and methods based on empirical evidence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962900" y="4851400"/>
            <a:ext cx="4572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Reveals areas where evidence is missing or inconclusive, guiding future research directions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11200" y="4851400"/>
            <a:ext cx="4572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Prevents adoption of ineffective or harmful tools and practices through evidence-based evaluation</a:t>
            </a:r>
            <a:endParaRPr lang="en-US" sz="1100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4D2B6501-B5CA-CD97-A071-DE77E69873AA}"/>
              </a:ext>
            </a:extLst>
          </p:cNvPr>
          <p:cNvSpPr/>
          <p:nvPr/>
        </p:nvSpPr>
        <p:spPr>
          <a:xfrm>
            <a:off x="5702300" y="3168650"/>
            <a:ext cx="609600" cy="596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756EC60B-08EE-2FB3-8003-79AF52490C9D}"/>
              </a:ext>
            </a:extLst>
          </p:cNvPr>
          <p:cNvSpPr/>
          <p:nvPr/>
        </p:nvSpPr>
        <p:spPr>
          <a:xfrm>
            <a:off x="6940550" y="3173117"/>
            <a:ext cx="609600" cy="596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AutoShape 8">
            <a:extLst>
              <a:ext uri="{FF2B5EF4-FFF2-40B4-BE49-F238E27FC236}">
                <a16:creationId xmlns:a16="http://schemas.microsoft.com/office/drawing/2014/main" id="{E5CAA574-3F04-B211-FA51-B9D68061CB93}"/>
              </a:ext>
            </a:extLst>
          </p:cNvPr>
          <p:cNvSpPr/>
          <p:nvPr/>
        </p:nvSpPr>
        <p:spPr>
          <a:xfrm>
            <a:off x="6921500" y="4451350"/>
            <a:ext cx="609600" cy="596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AutoShape 8">
            <a:extLst>
              <a:ext uri="{FF2B5EF4-FFF2-40B4-BE49-F238E27FC236}">
                <a16:creationId xmlns:a16="http://schemas.microsoft.com/office/drawing/2014/main" id="{B750D5E3-996D-3853-220E-87B289A96391}"/>
              </a:ext>
            </a:extLst>
          </p:cNvPr>
          <p:cNvSpPr/>
          <p:nvPr/>
        </p:nvSpPr>
        <p:spPr>
          <a:xfrm>
            <a:off x="5689600" y="4451350"/>
            <a:ext cx="609600" cy="596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879600"/>
            <a:ext cx="11823700" cy="450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6616700" y="1879600"/>
            <a:ext cx="12700" cy="4508500"/>
          </a:xfrm>
          <a:prstGeom prst="roundRect">
            <a:avLst>
              <a:gd name="adj" fmla="val 50000"/>
            </a:avLst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1879600"/>
            <a:ext cx="59055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400800" y="18796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803900" y="2108200"/>
            <a:ext cx="609600" cy="127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6629400" y="3390900"/>
            <a:ext cx="59055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400800" y="33909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6845300" y="3606800"/>
            <a:ext cx="609600" cy="127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711200" y="4889500"/>
            <a:ext cx="59055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400800" y="48895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5803900" y="5105400"/>
            <a:ext cx="609600" cy="127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11200" y="1028700"/>
            <a:ext cx="1182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Knewave"/>
              </a:rPr>
              <a:t>EBSE for Graduate Students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11200" y="19558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Undergraduate Level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58100" y="34544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Master's Level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11200" y="49657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PhD Level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11200" y="2463800"/>
            <a:ext cx="48768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Systematic review exercises train critical reading skills and understanding of knowledge accumulation in SE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7658100" y="3962400"/>
            <a:ext cx="48768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SLRs provide thesis foundation through structured surveys of existing work and research question identification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11200" y="5473700"/>
            <a:ext cx="48768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Reveals deeper research gaps, justifies novelty, positions contributions within literature, often publishable as standalone papers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6502400" y="2006600"/>
            <a:ext cx="254000" cy="203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 l="7000" r="7000"/>
          <a:stretch>
            <a:fillRect/>
          </a:stretch>
        </p:blipFill>
        <p:spPr>
          <a:xfrm>
            <a:off x="6540500" y="3517900"/>
            <a:ext cx="177800" cy="203200"/>
          </a:xfrm>
          <a:prstGeom prst="rect">
            <a:avLst/>
          </a:prstGeom>
        </p:spPr>
      </p:pic>
      <p:pic>
        <p:nvPicPr>
          <p:cNvPr id="26" name="Picture 23">
            <a:extLst>
              <a:ext uri="{FF2B5EF4-FFF2-40B4-BE49-F238E27FC236}">
                <a16:creationId xmlns:a16="http://schemas.microsoft.com/office/drawing/2014/main" id="{A0C16A85-A8FF-4323-42B6-3377C5A868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00" r="7000"/>
          <a:stretch>
            <a:fillRect/>
          </a:stretch>
        </p:blipFill>
        <p:spPr>
          <a:xfrm>
            <a:off x="6546850" y="5048250"/>
            <a:ext cx="177800" cy="203200"/>
          </a:xfrm>
          <a:prstGeom prst="rect">
            <a:avLst/>
          </a:prstGeom>
        </p:spPr>
      </p:pic>
      <p:pic>
        <p:nvPicPr>
          <p:cNvPr id="27" name="Picture 22">
            <a:extLst>
              <a:ext uri="{FF2B5EF4-FFF2-40B4-BE49-F238E27FC236}">
                <a16:creationId xmlns:a16="http://schemas.microsoft.com/office/drawing/2014/main" id="{AA49EC22-2D93-5277-2621-8734E97AC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6508750" y="4959350"/>
            <a:ext cx="254000" cy="203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24DE0CD-6F81-7F8B-B861-7C11662CDA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65" t="4366" r="1873"/>
          <a:stretch/>
        </p:blipFill>
        <p:spPr>
          <a:xfrm>
            <a:off x="8382000" y="838200"/>
            <a:ext cx="4114800" cy="23110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384300"/>
            <a:ext cx="11823700" cy="547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384300"/>
            <a:ext cx="3759200" cy="547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1384300"/>
            <a:ext cx="3759200" cy="5473700"/>
          </a:xfrm>
          <a:prstGeom prst="roundRect">
            <a:avLst>
              <a:gd name="adj" fmla="val 1689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39800" y="3683000"/>
            <a:ext cx="3314700" cy="295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737100" y="1384300"/>
            <a:ext cx="3771900" cy="547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737100" y="1384300"/>
            <a:ext cx="3771900" cy="5473700"/>
          </a:xfrm>
          <a:prstGeom prst="roundRect">
            <a:avLst>
              <a:gd name="adj" fmla="val 1683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965700" y="3683000"/>
            <a:ext cx="3314700" cy="295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75700" y="1384300"/>
            <a:ext cx="3759200" cy="547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75700" y="1384300"/>
            <a:ext cx="3759200" cy="5473700"/>
          </a:xfrm>
          <a:prstGeom prst="roundRect">
            <a:avLst>
              <a:gd name="adj" fmla="val 1689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9004300" y="3683000"/>
            <a:ext cx="3314700" cy="295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11200" y="546100"/>
            <a:ext cx="118237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>
                <a:solidFill>
                  <a:srgbClr val="000000"/>
                </a:solidFill>
                <a:latin typeface="Knewave"/>
              </a:rPr>
              <a:t>Types of Secondary Studies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39800" y="3683000"/>
            <a:ext cx="33147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Knewave"/>
              </a:rPr>
              <a:t>Systematic Literature Review (SLR)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965700" y="3683000"/>
            <a:ext cx="33147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Knewave"/>
              </a:rPr>
              <a:t>Systematic Mapping Study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004300" y="3683000"/>
            <a:ext cx="3314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Knewave"/>
              </a:rPr>
              <a:t>Rapid Review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43000" y="45466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Comprehensive synthesis of all relevant studies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52959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Emphasizes rigor, replicability, and transparency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43000" y="60452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Addresses specific research questions systematically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5181600" y="45466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Categorizes and classifies existing research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5181600" y="52959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Provides broad overview of trends and distribution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5181600" y="60452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Emphasizes breadth over depth in analysis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9207500" y="41783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Streamlined version of SLR for speed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9207500" y="49403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Sacrifices comprehensiveness for timeliness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9207500" y="5689600"/>
            <a:ext cx="31115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Agbalumo"/>
              </a:rPr>
              <a:t>Used when timely evidence is needed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38200" y="46101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38200" y="53594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38200" y="61087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4864100" y="46101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4864100" y="53594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4864100" y="61087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890000" y="42418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8890000" y="49911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890000" y="5740400"/>
            <a:ext cx="2032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CFFD834-F65F-E016-AE92-D207D0BA5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689" y="1823419"/>
            <a:ext cx="1674922" cy="146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2A0EB1-D0B1-181B-FD61-80A47185D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6081" y="1947836"/>
            <a:ext cx="1755838" cy="12446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709F48C-29A3-FAFC-8061-0043E3029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3433" y="1844083"/>
            <a:ext cx="1183733" cy="1419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2082800"/>
            <a:ext cx="11823700" cy="408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39800" y="2082800"/>
            <a:ext cx="12700" cy="4089400"/>
          </a:xfrm>
          <a:prstGeom prst="roundRect">
            <a:avLst>
              <a:gd name="adj" fmla="val 50000"/>
            </a:avLst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2082800"/>
            <a:ext cx="11823700" cy="119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20828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155700" y="2311400"/>
            <a:ext cx="609600" cy="127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711200" y="3695700"/>
            <a:ext cx="118237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11200" y="36957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55700" y="3911600"/>
            <a:ext cx="609600" cy="127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711200" y="4991100"/>
            <a:ext cx="11823700" cy="119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711200" y="49911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55700" y="5207000"/>
            <a:ext cx="609600" cy="127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11200" y="1231900"/>
            <a:ext cx="1182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Knewave"/>
              </a:rPr>
              <a:t>The Review Process: From Protocol to Execution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968500" y="2159000"/>
            <a:ext cx="1056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Planning Phase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968500" y="3759200"/>
            <a:ext cx="1056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Conducting Phase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968500" y="5067300"/>
            <a:ext cx="1056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Reporting Phase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968500" y="2667000"/>
            <a:ext cx="105664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Develop protocol with research questions, search strategy, inclusion/exclusion criteria, and quality assessment plans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968500" y="4279900"/>
            <a:ext cx="105664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Execute searches, screen studies, assess quality, extract data using predefined forms, and analyze findings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968500" y="5575300"/>
            <a:ext cx="105664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Present transparent evidence chain, synthesis results, and provide evidence-based recommendations for practice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l="13000" r="13000"/>
          <a:stretch>
            <a:fillRect/>
          </a:stretch>
        </p:blipFill>
        <p:spPr>
          <a:xfrm>
            <a:off x="863600" y="2209800"/>
            <a:ext cx="152400" cy="203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8200" y="3822700"/>
            <a:ext cx="203200" cy="203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 l="13000" r="13000"/>
          <a:stretch>
            <a:fillRect/>
          </a:stretch>
        </p:blipFill>
        <p:spPr>
          <a:xfrm>
            <a:off x="863600" y="5118100"/>
            <a:ext cx="1524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498600"/>
            <a:ext cx="1182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498600"/>
            <a:ext cx="11823700" cy="12700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2933700"/>
            <a:ext cx="11823700" cy="214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2933700"/>
            <a:ext cx="5803900" cy="2146300"/>
          </a:xfrm>
          <a:prstGeom prst="roundRect">
            <a:avLst>
              <a:gd name="adj" fmla="val 295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731000" y="2933700"/>
            <a:ext cx="5803900" cy="2146300"/>
          </a:xfrm>
          <a:prstGeom prst="roundRect">
            <a:avLst>
              <a:gd name="adj" fmla="val 2958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711200" y="5245100"/>
            <a:ext cx="118237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11200" y="5245100"/>
            <a:ext cx="3797300" cy="1536700"/>
          </a:xfrm>
          <a:prstGeom prst="roundRect">
            <a:avLst>
              <a:gd name="adj" fmla="val 4132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4724400" y="5245100"/>
            <a:ext cx="3797300" cy="1536700"/>
          </a:xfrm>
          <a:prstGeom prst="roundRect">
            <a:avLst>
              <a:gd name="adj" fmla="val 4132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37600" y="5245100"/>
            <a:ext cx="3797300" cy="1536700"/>
          </a:xfrm>
          <a:prstGeom prst="roundRect">
            <a:avLst>
              <a:gd name="adj" fmla="val 4132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11200" y="635000"/>
            <a:ext cx="1182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Knewave"/>
              </a:rPr>
              <a:t>Protocol Development Essentials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39800" y="1727200"/>
            <a:ext cx="930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Protocol Components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39800" y="3162300"/>
            <a:ext cx="4064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Research Questions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59600" y="3162300"/>
            <a:ext cx="40386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Search Strategy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39800" y="5473700"/>
            <a:ext cx="3340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Inclusion Criteria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991100" y="5473700"/>
            <a:ext cx="32766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Quality Assessment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966200" y="5473700"/>
            <a:ext cx="3340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Data Extraction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39800" y="2235200"/>
            <a:ext cx="9309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A comprehensive protocol ensures transparency, replicability, and credibility in systematic reviews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43000" y="3632200"/>
            <a:ext cx="3848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Clear, focused, and answerable questions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4089400"/>
            <a:ext cx="3848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Guide the entire review process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43000" y="4546600"/>
            <a:ext cx="3848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Define scope and boundaries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162800" y="3632200"/>
            <a:ext cx="3822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Structured search strings with keywords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7162800" y="4089400"/>
            <a:ext cx="3822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Boolean operators (AND, OR, NOT)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7162800" y="4546600"/>
            <a:ext cx="3822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Database-specific syntax adaptation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939800" y="5943600"/>
            <a:ext cx="3340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Define what studies to include or exclude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4991100" y="5943600"/>
            <a:ext cx="32766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Evaluate study rigor and reliability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966200" y="5943600"/>
            <a:ext cx="3340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Specify what data to collect consistently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38200" y="3695700"/>
            <a:ext cx="2032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38200" y="4152900"/>
            <a:ext cx="2032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38200" y="4610100"/>
            <a:ext cx="2032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858000" y="3695700"/>
            <a:ext cx="2032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858000" y="4152900"/>
            <a:ext cx="2032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858000" y="4610100"/>
            <a:ext cx="2032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2095500"/>
            <a:ext cx="1182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2095500"/>
            <a:ext cx="11823700" cy="12700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3517900"/>
            <a:ext cx="11823700" cy="265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3517900"/>
            <a:ext cx="3797300" cy="2654300"/>
          </a:xfrm>
          <a:prstGeom prst="roundRect">
            <a:avLst>
              <a:gd name="adj" fmla="val 2392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311400" y="374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724400" y="3517900"/>
            <a:ext cx="3797300" cy="2654300"/>
          </a:xfrm>
          <a:prstGeom prst="roundRect">
            <a:avLst>
              <a:gd name="adj" fmla="val 2392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324600" y="374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37600" y="3517900"/>
            <a:ext cx="3797300" cy="2654300"/>
          </a:xfrm>
          <a:prstGeom prst="roundRect">
            <a:avLst>
              <a:gd name="adj" fmla="val 2392"/>
            </a:avLst>
          </a:prstGeom>
          <a:solidFill>
            <a:srgbClr val="CCCCCC"/>
          </a:solidFill>
          <a:ln w="12700">
            <a:solidFill>
              <a:srgbClr val="00000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0337800" y="374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11200" y="1231900"/>
            <a:ext cx="1182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Knewave"/>
              </a:rPr>
              <a:t>Key Takeaways for Students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39800" y="2311400"/>
            <a:ext cx="1071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Knewave"/>
              </a:rPr>
              <a:t>Essential Principles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39800" y="4572000"/>
            <a:ext cx="3340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Systematic Approach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953000" y="4572000"/>
            <a:ext cx="3340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Protocol Development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966200" y="4572000"/>
            <a:ext cx="3340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Knewave"/>
              </a:rPr>
              <a:t>Structured Process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39800" y="2832100"/>
            <a:ext cx="10718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EBSE emphasizes systematic use of evidence through structured secondary research methods with clear protocols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939800" y="5041900"/>
            <a:ext cx="3340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Use evidence systematically rather than relying on intuition alone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953000" y="5041900"/>
            <a:ext cx="3340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Essential for credibility, replicability, and transparency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966200" y="5041900"/>
            <a:ext cx="33401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Adaptable framework with clarity, rigor, and transparency as core principles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14600" y="3949700"/>
            <a:ext cx="203200" cy="203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 l="13000" r="13000"/>
          <a:stretch>
            <a:fillRect/>
          </a:stretch>
        </p:blipFill>
        <p:spPr>
          <a:xfrm>
            <a:off x="6553200" y="3949700"/>
            <a:ext cx="152400" cy="203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t="10000" b="10000"/>
          <a:stretch>
            <a:fillRect/>
          </a:stretch>
        </p:blipFill>
        <p:spPr>
          <a:xfrm>
            <a:off x="10515600" y="3949700"/>
            <a:ext cx="2540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11200" y="2209800"/>
            <a:ext cx="59055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000" b="1" dirty="0">
                <a:solidFill>
                  <a:srgbClr val="000000"/>
                </a:solidFill>
                <a:latin typeface="Knewave"/>
              </a:rPr>
              <a:t>Evidence-Based Software Engineering</a:t>
            </a:r>
            <a:endParaRPr lang="en-US" sz="1100" dirty="0"/>
          </a:p>
        </p:txBody>
      </p:sp>
      <p:sp>
        <p:nvSpPr>
          <p:cNvPr id="6" name="TextBox 6"/>
          <p:cNvSpPr txBox="1"/>
          <p:nvPr/>
        </p:nvSpPr>
        <p:spPr>
          <a:xfrm>
            <a:off x="711200" y="3670300"/>
            <a:ext cx="59055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Agbalumo"/>
              </a:rPr>
              <a:t>A comprehensive training module on systematic reviews and evidence-based practices for software engineering research and practice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11200" y="4826000"/>
            <a:ext cx="59055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Agbalumo"/>
              </a:rPr>
              <a:t>SE-ALL LAB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66118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557</Words>
  <Application>Microsoft Macintosh PowerPoint</Application>
  <PresentationFormat>Custom</PresentationFormat>
  <Paragraphs>100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Agbalumo</vt:lpstr>
      <vt:lpstr>Arial</vt:lpstr>
      <vt:lpstr>Calibri</vt:lpstr>
      <vt:lpstr>Knewave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Ronnie De Souza Santos</cp:lastModifiedBy>
  <cp:revision>2</cp:revision>
  <dcterms:created xsi:type="dcterms:W3CDTF">2006-08-16T00:00:00Z</dcterms:created>
  <dcterms:modified xsi:type="dcterms:W3CDTF">2025-10-03T23:44:14Z</dcterms:modified>
</cp:coreProperties>
</file>